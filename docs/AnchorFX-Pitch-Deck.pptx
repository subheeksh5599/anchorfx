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ADCFC"/>
                </a:solidFill>
                <a:latin typeface="Calibri"/>
              </a:rPr>
              <a:t>STELLAR JOURNEY TO MASTERY — LEVEL 5 (BLUE BELT)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AnchorFX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CADCFC"/>
                </a:solidFill>
                <a:latin typeface="Calibri"/>
              </a:rPr>
              <a:t>Atomic cross-border FX settlement on Stellar — live on Mainnet.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B8C4DE"/>
                </a:solidFill>
                <a:latin typeface="Calibri"/>
              </a:rPr>
              <a:t>anchorfx.vercel.app   ·   github.com/subheeksh5599/AnchorFX   ·   @AnchorFX_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ADCFC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Cross-border payments are slow, opaque, and trust-dependent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ADCFC"/>
                </a:solidFill>
                <a:latin typeface="Calibri"/>
              </a:rPr>
              <a:t>Correspondent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B8C4DE"/>
                </a:solidFill>
                <a:latin typeface="Calibri"/>
              </a:rPr>
              <a:t>Funds move through chains of intermediary banks — 2 to 5 days to settle.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ADCFC"/>
                </a:solidFill>
                <a:latin typeface="Calibri"/>
              </a:rPr>
              <a:t>Opaque FX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3016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B8C4DE"/>
                </a:solidFill>
                <a:latin typeface="Calibri"/>
              </a:rPr>
              <a:t>The applied exchange rate is set by a middleman; neither party can verify it on-chain.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ADCFC"/>
                </a:solidFill>
                <a:latin typeface="Calibri"/>
              </a:rPr>
              <a:t>Counterparty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7316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B8C4DE"/>
                </a:solidFill>
                <a:latin typeface="Calibri"/>
              </a:rPr>
              <a:t>One side must release funds first and simply trust the other to follow 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ADCFC"/>
                </a:solidFill>
                <a:latin typeface="Calibri"/>
              </a:rPr>
              <a:t>No settlement primitive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1616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B8C4DE"/>
                </a:solidFill>
                <a:latin typeface="Calibri"/>
              </a:rPr>
              <a:t>There is no atomic on-chain way to lock funds, agree a rate, and settle — or walk away.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103120"/>
            <a:ext cx="4663440" cy="123444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33172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9A826"/>
                </a:solidFill>
                <a:latin typeface="Calibri"/>
              </a:rPr>
              <a:t>2–5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154679"/>
            <a:ext cx="41148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typical correspondent-bank settlement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474720"/>
            <a:ext cx="4663440" cy="123444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70332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9A826"/>
                </a:solidFill>
                <a:latin typeface="Calibri"/>
              </a:rPr>
              <a:t>~6.3%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526279"/>
            <a:ext cx="41148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global average cost to send (World Bank)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846320"/>
            <a:ext cx="4663440" cy="123444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507492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9A826"/>
                </a:solidFill>
                <a:latin typeface="Calibri"/>
              </a:rPr>
              <a:t>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897879"/>
            <a:ext cx="41148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required between parties — no atomic guarantee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ADCFC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An atomic escrow + an on-chain FX rate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B8C4DE"/>
                </a:solidFill>
                <a:latin typeface="Calibri"/>
              </a:rPr>
              <a:t>Funds are locked in a Soroban escrow; the FX rate is fixed at creation from the oracle and can never change after. </a:t>
            </a:r>
            <a:r>
              <a:rPr sz="1500" b="1">
                <a:solidFill>
                  <a:srgbClr val="CADCFC"/>
                </a:solidFill>
                <a:latin typeface="Calibri"/>
              </a:rPr>
              <a:t>Settlement is atomic — both parties approve, or nobody gets anything.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3291840" cy="155448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9A826"/>
                </a:solidFill>
                <a:latin typeface="Calibri"/>
              </a:rPr>
              <a:t>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Sender locks funds
at an oracle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8" y="338328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CADCFC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2834640"/>
            <a:ext cx="3291840" cy="155448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30175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9A826"/>
                </a:solidFill>
                <a:latin typeface="Calibri"/>
              </a:rPr>
              <a:t>Counterparty
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36576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Receiver agrees
to the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0416" y="338328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CADCFC"/>
                </a:solidFill>
                <a:latin typeface="Calibr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7616" y="2834640"/>
            <a:ext cx="3291840" cy="155448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6" y="30175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9A826"/>
                </a:solidFill>
                <a:latin typeface="Calibri"/>
              </a:rPr>
              <a:t>Settled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36576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Funds released to
receiver atomically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B8C4DE"/>
                </a:solidFill>
                <a:latin typeface="Calibri"/>
              </a:rPr>
              <a:t>Refunded (after timeout)   ·   Cancelled (admin pause / circuit breaker)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Fee sponsorship: users never pay gas — transactions are fee-bumped by the protocol.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ADCFC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A settlement primitive for a high-volume, high-friction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B8C4DE"/>
                </a:solidFill>
                <a:latin typeface="Calibri"/>
              </a:rPr>
              <a:t>AnchorFX sits where remittance volume meets Stellar's speed and cost: a non-custodial, auditable settlement layer for anchors, fintechs, and P2P corridors.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3383280" cy="182880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9A826"/>
                </a:solidFill>
                <a:latin typeface="Calibri"/>
              </a:rPr>
              <a:t>~$800B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cross-border remittances sent annually (World Bank)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697480"/>
            <a:ext cx="3383280" cy="182880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9260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9A826"/>
                </a:solidFill>
                <a:latin typeface="Calibri"/>
              </a:rPr>
              <a:t>~6.3%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global average cost to send — dominated by fees + FX spread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697480"/>
            <a:ext cx="3383280" cy="182880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9260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9A826"/>
                </a:solidFill>
                <a:latin typeface="Calibri"/>
              </a:rPr>
              <a:t>~5s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Stellar settlement time, at sub-cent network fees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ADCFC"/>
                </a:solidFill>
                <a:latin typeface="Calibri"/>
              </a:rPr>
              <a:t>The wedge: </a:t>
            </a:r>
            <a:r>
              <a:rPr sz="1500" b="0">
                <a:solidFill>
                  <a:srgbClr val="B8C4DE"/>
                </a:solidFill>
                <a:latin typeface="Calibri"/>
              </a:rPr>
              <a:t>reduce the 6.3% cost and multi-day delay to a few seconds with an on-chain, verifiable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ADCFC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Built entirely on Stellar primitives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01168" cy="201168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385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Soroban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96596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B8C4DE"/>
                </a:solidFill>
                <a:latin typeface="Calibri"/>
              </a:rPr>
              <a:t>Escrow factory (state machine) + FX rate oracle (publish/expire). Deployed on Mainnet.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201168" cy="201168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8986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Stellar Asset Contracts (SAC)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9260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B8C4DE"/>
                </a:solidFill>
                <a:latin typeface="Calibri"/>
              </a:rPr>
              <a:t>Any Stellar asset escrows — XLM, USDC, EURC — not just the native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201168" cy="201168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8587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Stellar DEX path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88620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B8C4DE"/>
                </a:solidFill>
                <a:latin typeface="Calibri"/>
              </a:rPr>
              <a:t>Corridor quotes map fiat pairs to on-chain settlement routes.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92040"/>
            <a:ext cx="201168" cy="201168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8188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API + tooling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84632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B8C4DE"/>
                </a:solidFill>
                <a:latin typeface="Calibri"/>
              </a:rPr>
              <a:t>REST + SSE API, public explorer, live rates, network status, admin controls, fee sponsorship.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852159"/>
            <a:ext cx="201168" cy="201168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77900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80644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B8C4DE"/>
                </a:solidFill>
                <a:latin typeface="Calibri"/>
              </a:rPr>
              <a:t>Audited — 257 findings, all critical / high / medium resolved. See docs/SECURITY.md.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ADCFC"/>
                </a:solidFill>
                <a:latin typeface="Calibri"/>
              </a:rP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Real users, a feedback loop, and public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B8C4DE"/>
                </a:solidFill>
                <a:latin typeface="Calibri"/>
              </a:rPr>
              <a:t>Growth is driven by a closed feedback loop: onboard users, collect feedback, ship the fixes, show the proof on-chain.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2468880" cy="182880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9A826"/>
                </a:solidFill>
                <a:latin typeface="Calibri"/>
              </a:rPr>
              <a:t>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8C4DE"/>
                </a:solidFill>
                <a:latin typeface="Calibri"/>
              </a:rPr>
              <a:t>verified mainnet users (20 July + 30 August cohorts)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697480"/>
            <a:ext cx="2468880" cy="182880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88036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9A826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5760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8C4DE"/>
                </a:solidFill>
                <a:latin typeface="Calibri"/>
              </a:rPr>
              <a:t>FX corridors live (US→PH, MX, BR, NG, IN, AR, GH, KE, ID, VN, 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697480"/>
            <a:ext cx="2468880" cy="182880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88036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9A826"/>
                </a:solidFill>
                <a:latin typeface="Calibri"/>
              </a:rPr>
              <a:t>100+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365760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8C4DE"/>
                </a:solidFill>
                <a:latin typeface="Calibri"/>
              </a:rPr>
              <a:t>followers on X @AnchorFX_ (launch post + demo video)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697480"/>
            <a:ext cx="2468880" cy="1828800"/>
          </a:xfrm>
          <a:prstGeom prst="roundRect">
            <a:avLst/>
          </a:prstGeom>
          <a:solidFill>
            <a:srgbClr val="15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88036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9A826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65760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8C4DE"/>
                </a:solidFill>
                <a:latin typeface="Calibri"/>
              </a:rPr>
              <a:t>merged Stellar ecosystem PRs + technical blog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ADCFC"/>
                </a:solidFill>
                <a:latin typeface="Calibri"/>
              </a:rPr>
              <a:t>Feedback loop: </a:t>
            </a:r>
            <a:r>
              <a:rPr sz="1500" b="0">
                <a:solidFill>
                  <a:srgbClr val="B8C4DE"/>
                </a:solidFill>
                <a:latin typeface="Calibri"/>
              </a:rPr>
              <a:t>Google Form → Excel export → improvement commits, each mapped to a user's feedback in the README.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ADCFC"/>
                </a:solidFill>
                <a:latin typeface="Calibri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From settlement primitive to full cross-border 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74320" cy="274320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01167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ADCFC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0574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B8C4DE"/>
                </a:solidFill>
                <a:latin typeface="Calibri"/>
              </a:rPr>
              <a:t>Atomic FX escrow + oracle on Mainnet, 11 corridors, fee sponsorship, public explorer.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79"/>
            <a:ext cx="274320" cy="274320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06323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ADCFC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1089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B8C4DE"/>
                </a:solidFill>
                <a:latin typeface="Calibri"/>
              </a:rPr>
              <a:t>SEP-24 / SEP-31 anchor integration — connect regulated anchors for off-ramp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274320" cy="274320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114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ADCFC"/>
                </a:solidFill>
                <a:latin typeface="Calibri"/>
              </a:rPr>
              <a:t>Then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1605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B8C4DE"/>
                </a:solidFill>
                <a:latin typeface="Calibri"/>
              </a:rPr>
              <a:t>Multi-signature escrow + account abstraction (smart wallet with custom auth).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274320" cy="274320"/>
          </a:xfrm>
          <a:prstGeom prst="round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166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ADCFC"/>
                </a:solidFill>
                <a:latin typeface="Calibri"/>
              </a:rPr>
              <a:t>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120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B8C4DE"/>
                </a:solidFill>
                <a:latin typeface="Calibri"/>
              </a:rPr>
              <a:t>Recurring payments, webhooks, and a broader corridor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8C4DE"/>
                </a:solidFill>
                <a:latin typeface="Calibri"/>
              </a:rPr>
              <a:t>Every improvement ships as a commit linked to the feedback that requested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